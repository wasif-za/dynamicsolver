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EF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110" y="6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189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order comes in: carton catalogue plus order items. Portal-specific naming and kilograms are translated first, quantity expands into units, then constraints like dangerous goods and rotation limits are enforced.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 is a complete drawing instruction. It includes coordinate rules, metrics, physical cartons, placements with already-applied rotations, and rejects. That keeps the visualiser simple and makes partial success explicit.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is validation level. If the order itself is broken, nothing is packed and the API returns 422. If one item is broken or cannot fit, the solver returns 200 with placements plus reject reasons.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333333">
                <a:alpha val="0"/>
              </a:srgbClr>
            </a:solidFill>
            <a:prstDash val="solid"/>
          </a:ln>
        </p:spPr>
        <p:txBody>
          <a:bodyPr/>
          <a:lstStyle/>
          <a:p>
            <a:endParaRPr lang="en-AU"/>
          </a:p>
        </p:txBody>
      </p:sp>
      <p:sp>
        <p:nvSpPr>
          <p:cNvPr id="3" name="Shape 1"/>
          <p:cNvSpPr/>
          <p:nvPr/>
        </p:nvSpPr>
        <p:spPr>
          <a:xfrm>
            <a:off x="685800" y="6327648"/>
            <a:ext cx="10817352" cy="0"/>
          </a:xfrm>
          <a:prstGeom prst="line">
            <a:avLst/>
          </a:prstGeom>
          <a:noFill/>
          <a:ln w="12700">
            <a:solidFill>
              <a:srgbClr val="26314F"/>
            </a:solidFill>
            <a:prstDash val="solid"/>
          </a:ln>
        </p:spPr>
        <p:txBody>
          <a:bodyPr/>
          <a:lstStyle/>
          <a:p>
            <a:endParaRPr lang="en-AU"/>
          </a:p>
        </p:txBody>
      </p:sp>
      <p:sp>
        <p:nvSpPr>
          <p:cNvPr id="25" name="Slide Number Placeholder 0"/>
          <p:cNvSpPr>
            <a:spLocks noGrp="1"/>
          </p:cNvSpPr>
          <p:nvPr>
            <p:ph type="sldNum" sz="quarter" idx="4294967295"/>
          </p:nvPr>
        </p:nvSpPr>
        <p:spPr>
          <a:xfrm>
            <a:off x="11384280" y="619963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70809D"/>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19963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70809D"/>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3232" y="347472"/>
            <a:ext cx="2468880" cy="228600"/>
          </a:xfrm>
          <a:prstGeom prst="rect">
            <a:avLst/>
          </a:prstGeom>
          <a:noFill/>
          <a:ln/>
        </p:spPr>
        <p:txBody>
          <a:bodyPr wrap="square" lIns="0" tIns="0" rIns="0" bIns="0" rtlCol="0" anchor="ctr"/>
          <a:lstStyle/>
          <a:p>
            <a:pPr marL="0" indent="0">
              <a:buNone/>
            </a:pPr>
            <a:r>
              <a:rPr lang="en-US" sz="900" b="1" dirty="0">
                <a:solidFill>
                  <a:srgbClr val="2DE2C1"/>
                </a:solidFill>
                <a:latin typeface="Times New Roman" panose="02020603050405020304" pitchFamily="18" charset="0"/>
                <a:ea typeface="Aptos" pitchFamily="34" charset="-122"/>
                <a:cs typeface="Times New Roman" panose="02020603050405020304" pitchFamily="18" charset="0"/>
              </a:rPr>
              <a:t>INPUT CONTRACT</a:t>
            </a:r>
            <a:endParaRPr lang="en-US" sz="900" dirty="0">
              <a:latin typeface="Times New Roman" panose="02020603050405020304" pitchFamily="18" charset="0"/>
              <a:cs typeface="Times New Roman" panose="02020603050405020304" pitchFamily="18" charset="0"/>
            </a:endParaRPr>
          </a:p>
        </p:txBody>
      </p:sp>
      <p:sp>
        <p:nvSpPr>
          <p:cNvPr id="3" name="Text 1"/>
          <p:cNvSpPr/>
          <p:nvPr/>
        </p:nvSpPr>
        <p:spPr>
          <a:xfrm>
            <a:off x="685800" y="603504"/>
            <a:ext cx="10835640" cy="548640"/>
          </a:xfrm>
          <a:prstGeom prst="rect">
            <a:avLst/>
          </a:prstGeom>
          <a:noFill/>
          <a:ln/>
        </p:spPr>
        <p:txBody>
          <a:bodyPr wrap="square" lIns="0" tIns="0" rIns="0" bIns="0" rtlCol="0" anchor="ctr"/>
          <a:lstStyle/>
          <a:p>
            <a:pPr marL="0" indent="0">
              <a:buNone/>
            </a:pPr>
            <a:r>
              <a:rPr lang="en-US" sz="3400" b="1" dirty="0">
                <a:solidFill>
                  <a:srgbClr val="F7FAFF"/>
                </a:solidFill>
                <a:latin typeface="Times New Roman" panose="02020603050405020304" pitchFamily="18" charset="0"/>
                <a:ea typeface="Aptos Display" pitchFamily="34" charset="-122"/>
                <a:cs typeface="Times New Roman" panose="02020603050405020304" pitchFamily="18" charset="0"/>
              </a:rPr>
              <a:t>What goes in: a normalised order</a:t>
            </a:r>
            <a:endParaRPr lang="en-US" sz="3400" dirty="0">
              <a:latin typeface="Times New Roman" panose="02020603050405020304" pitchFamily="18" charset="0"/>
              <a:cs typeface="Times New Roman" panose="02020603050405020304" pitchFamily="18" charset="0"/>
            </a:endParaRPr>
          </a:p>
        </p:txBody>
      </p:sp>
      <p:sp>
        <p:nvSpPr>
          <p:cNvPr id="4" name="Text 2"/>
          <p:cNvSpPr/>
          <p:nvPr/>
        </p:nvSpPr>
        <p:spPr>
          <a:xfrm>
            <a:off x="713232" y="1234440"/>
            <a:ext cx="5532120" cy="594360"/>
          </a:xfrm>
          <a:prstGeom prst="rect">
            <a:avLst/>
          </a:prstGeom>
          <a:noFill/>
          <a:ln/>
        </p:spPr>
        <p:txBody>
          <a:bodyPr wrap="square" lIns="0" tIns="0" rIns="0" bIns="0" rtlCol="0" anchor="ctr">
            <a:normAutofit fontScale="92500" lnSpcReduction="20000"/>
          </a:bodyPr>
          <a:lstStyle/>
          <a:p>
            <a:pPr marL="0" indent="0">
              <a:buNone/>
            </a:pPr>
            <a:r>
              <a:rPr lang="en-US" sz="1700" dirty="0">
                <a:solidFill>
                  <a:srgbClr val="AAB6CA"/>
                </a:solidFill>
                <a:latin typeface="Times New Roman" panose="02020603050405020304" pitchFamily="18" charset="0"/>
                <a:ea typeface="Aptos" pitchFamily="34" charset="-122"/>
                <a:cs typeface="Times New Roman" panose="02020603050405020304" pitchFamily="18" charset="0"/>
              </a:rPr>
              <a:t>Cartons define the warehouse catalogue. Items define the order. The solver starts only after units, dimensions and masses are normalised.</a:t>
            </a:r>
            <a:endParaRPr lang="en-US" sz="1700" dirty="0">
              <a:latin typeface="Times New Roman" panose="02020603050405020304" pitchFamily="18" charset="0"/>
              <a:cs typeface="Times New Roman" panose="02020603050405020304" pitchFamily="18" charset="0"/>
            </a:endParaRPr>
          </a:p>
        </p:txBody>
      </p:sp>
      <p:sp>
        <p:nvSpPr>
          <p:cNvPr id="5" name="Text 3"/>
          <p:cNvSpPr/>
          <p:nvPr/>
        </p:nvSpPr>
        <p:spPr>
          <a:xfrm>
            <a:off x="2212848" y="3584448"/>
            <a:ext cx="347472" cy="320040"/>
          </a:xfrm>
          <a:prstGeom prst="rect">
            <a:avLst/>
          </a:prstGeom>
          <a:noFill/>
          <a:ln/>
        </p:spPr>
        <p:txBody>
          <a:bodyPr wrap="square" lIns="0" tIns="0" rIns="0" bIns="0" rtlCol="0" anchor="ctr"/>
          <a:lstStyle/>
          <a:p>
            <a:pPr marL="0" indent="0">
              <a:buNone/>
            </a:pPr>
            <a:r>
              <a:rPr lang="en-US" sz="2400" dirty="0">
                <a:solidFill>
                  <a:srgbClr val="2DE2C1"/>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4160520" y="3584448"/>
            <a:ext cx="347472" cy="320040"/>
          </a:xfrm>
          <a:prstGeom prst="rect">
            <a:avLst/>
          </a:prstGeom>
          <a:noFill/>
          <a:ln/>
        </p:spPr>
        <p:txBody>
          <a:bodyPr wrap="square" lIns="0" tIns="0" rIns="0" bIns="0" rtlCol="0" anchor="ctr"/>
          <a:lstStyle/>
          <a:p>
            <a:pPr marL="0" indent="0">
              <a:buNone/>
            </a:pPr>
            <a:r>
              <a:rPr lang="en-US" sz="2400" dirty="0">
                <a:solidFill>
                  <a:srgbClr val="2DE2C1"/>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731520" y="3438144"/>
            <a:ext cx="1234440" cy="841248"/>
          </a:xfrm>
          <a:prstGeom prst="rect">
            <a:avLst/>
          </a:prstGeom>
          <a:solidFill>
            <a:srgbClr val="17223B"/>
          </a:solidFill>
          <a:ln w="12700">
            <a:solidFill>
              <a:srgbClr val="26314F"/>
            </a:solidFill>
          </a:ln>
        </p:spPr>
        <p:txBody>
          <a:bodyPr wrap="square" lIns="1016" tIns="1016" rIns="1016" bIns="1016" rtlCol="0" anchor="ctr">
            <a:normAutofit/>
          </a:bodyPr>
          <a:lstStyle/>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Portal</a:t>
            </a:r>
            <a:endParaRPr lang="en-US" sz="1450" dirty="0">
              <a:latin typeface="Times New Roman" panose="02020603050405020304" pitchFamily="18" charset="0"/>
              <a:cs typeface="Times New Roman" panose="02020603050405020304" pitchFamily="18" charset="0"/>
            </a:endParaRPr>
          </a:p>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kg + item_code</a:t>
            </a:r>
            <a:endParaRPr lang="en-US" sz="1450" dirty="0">
              <a:latin typeface="Times New Roman" panose="02020603050405020304" pitchFamily="18" charset="0"/>
              <a:cs typeface="Times New Roman" panose="02020603050405020304" pitchFamily="18" charset="0"/>
            </a:endParaRPr>
          </a:p>
        </p:txBody>
      </p:sp>
      <p:sp>
        <p:nvSpPr>
          <p:cNvPr id="8" name="Text 6"/>
          <p:cNvSpPr/>
          <p:nvPr/>
        </p:nvSpPr>
        <p:spPr>
          <a:xfrm>
            <a:off x="2962656" y="3438144"/>
            <a:ext cx="1005840" cy="841248"/>
          </a:xfrm>
          <a:prstGeom prst="rect">
            <a:avLst/>
          </a:prstGeom>
          <a:solidFill>
            <a:srgbClr val="19364B"/>
          </a:solidFill>
          <a:ln w="12700">
            <a:solidFill>
              <a:srgbClr val="26314F"/>
            </a:solidFill>
          </a:ln>
        </p:spPr>
        <p:txBody>
          <a:bodyPr wrap="square" lIns="1016" tIns="1016" rIns="1016" bIns="1016" rtlCol="0" anchor="ctr">
            <a:normAutofit/>
          </a:bodyPr>
          <a:lstStyle/>
          <a:p>
            <a:pPr marL="0" indent="0" algn="ctr">
              <a:buNone/>
            </a:pPr>
            <a:r>
              <a:rPr lang="en-US" sz="1450" b="1" dirty="0">
                <a:solidFill>
                  <a:srgbClr val="F7FAFF"/>
                </a:solidFill>
                <a:latin typeface="Times New Roman" panose="02020603050405020304" pitchFamily="18" charset="0"/>
                <a:ea typeface="Aptos" pitchFamily="34" charset="-122"/>
                <a:cs typeface="Times New Roman" panose="02020603050405020304" pitchFamily="18" charset="0"/>
              </a:rPr>
              <a:t>Adapter</a:t>
            </a:r>
            <a:endParaRPr lang="en-US" sz="1450" dirty="0">
              <a:latin typeface="Times New Roman" panose="02020603050405020304" pitchFamily="18" charset="0"/>
              <a:cs typeface="Times New Roman" panose="02020603050405020304" pitchFamily="18" charset="0"/>
            </a:endParaRPr>
          </a:p>
          <a:p>
            <a:pPr marL="0" indent="0" algn="ctr">
              <a:buNone/>
            </a:pPr>
            <a:r>
              <a:rPr lang="en-US" sz="1450" b="1" dirty="0">
                <a:solidFill>
                  <a:srgbClr val="F7FAFF"/>
                </a:solidFill>
                <a:latin typeface="Times New Roman" panose="02020603050405020304" pitchFamily="18" charset="0"/>
                <a:ea typeface="Aptos" pitchFamily="34" charset="-122"/>
                <a:cs typeface="Times New Roman" panose="02020603050405020304" pitchFamily="18" charset="0"/>
              </a:rPr>
              <a:t>mm + grams</a:t>
            </a:r>
            <a:endParaRPr lang="en-US" sz="1450" dirty="0">
              <a:latin typeface="Times New Roman" panose="02020603050405020304" pitchFamily="18" charset="0"/>
              <a:cs typeface="Times New Roman" panose="02020603050405020304" pitchFamily="18" charset="0"/>
            </a:endParaRPr>
          </a:p>
        </p:txBody>
      </p:sp>
      <p:sp>
        <p:nvSpPr>
          <p:cNvPr id="9" name="Text 7"/>
          <p:cNvSpPr/>
          <p:nvPr/>
        </p:nvSpPr>
        <p:spPr>
          <a:xfrm>
            <a:off x="4736592" y="3438144"/>
            <a:ext cx="1161288" cy="841248"/>
          </a:xfrm>
          <a:prstGeom prst="rect">
            <a:avLst/>
          </a:prstGeom>
          <a:solidFill>
            <a:srgbClr val="14372F"/>
          </a:solidFill>
          <a:ln w="12700">
            <a:solidFill>
              <a:srgbClr val="26314F"/>
            </a:solidFill>
          </a:ln>
        </p:spPr>
        <p:txBody>
          <a:bodyPr wrap="square" lIns="1016" tIns="1016" rIns="1016" bIns="1016" rtlCol="0" anchor="ctr">
            <a:normAutofit/>
          </a:bodyPr>
          <a:lstStyle/>
          <a:p>
            <a:pPr marL="0" indent="0" algn="ctr">
              <a:buNone/>
            </a:pPr>
            <a:r>
              <a:rPr lang="en-US" sz="1450" b="1" dirty="0">
                <a:solidFill>
                  <a:srgbClr val="F7FAFF"/>
                </a:solidFill>
                <a:latin typeface="Times New Roman" panose="02020603050405020304" pitchFamily="18" charset="0"/>
                <a:ea typeface="Aptos" pitchFamily="34" charset="-122"/>
                <a:cs typeface="Times New Roman" panose="02020603050405020304" pitchFamily="18" charset="0"/>
              </a:rPr>
              <a:t>Solver</a:t>
            </a:r>
            <a:endParaRPr lang="en-US" sz="1450" dirty="0">
              <a:latin typeface="Times New Roman" panose="02020603050405020304" pitchFamily="18" charset="0"/>
              <a:cs typeface="Times New Roman" panose="02020603050405020304" pitchFamily="18" charset="0"/>
            </a:endParaRPr>
          </a:p>
          <a:p>
            <a:pPr marL="0" indent="0" algn="ctr">
              <a:buNone/>
            </a:pPr>
            <a:r>
              <a:rPr lang="en-US" sz="1450" b="1" dirty="0">
                <a:solidFill>
                  <a:srgbClr val="F7FAFF"/>
                </a:solidFill>
                <a:latin typeface="Times New Roman" panose="02020603050405020304" pitchFamily="18" charset="0"/>
                <a:ea typeface="Aptos" pitchFamily="34" charset="-122"/>
                <a:cs typeface="Times New Roman" panose="02020603050405020304" pitchFamily="18" charset="0"/>
              </a:rPr>
              <a:t>validated units</a:t>
            </a:r>
            <a:endParaRPr lang="en-US" sz="1450" dirty="0">
              <a:latin typeface="Times New Roman" panose="02020603050405020304" pitchFamily="18" charset="0"/>
              <a:cs typeface="Times New Roman" panose="02020603050405020304" pitchFamily="18" charset="0"/>
            </a:endParaRPr>
          </a:p>
        </p:txBody>
      </p:sp>
      <p:sp>
        <p:nvSpPr>
          <p:cNvPr id="10" name="Shape 8"/>
          <p:cNvSpPr/>
          <p:nvPr/>
        </p:nvSpPr>
        <p:spPr>
          <a:xfrm>
            <a:off x="713232" y="2121408"/>
            <a:ext cx="73152" cy="420624"/>
          </a:xfrm>
          <a:prstGeom prst="rect">
            <a:avLst/>
          </a:prstGeom>
          <a:solidFill>
            <a:srgbClr val="5B8CFF"/>
          </a:solidFill>
          <a:ln w="12700">
            <a:solidFill>
              <a:srgbClr val="333333">
                <a:alpha val="0"/>
              </a:srgbClr>
            </a:solidFill>
            <a:prstDash val="solid"/>
          </a:ln>
        </p:spPr>
        <p:txBody>
          <a:bodyPr/>
          <a:lstStyle/>
          <a:p>
            <a:endParaRPr lang="en-AU">
              <a:latin typeface="Times New Roman" panose="02020603050405020304" pitchFamily="18" charset="0"/>
              <a:cs typeface="Times New Roman" panose="02020603050405020304" pitchFamily="18" charset="0"/>
            </a:endParaRPr>
          </a:p>
        </p:txBody>
      </p:sp>
      <p:sp>
        <p:nvSpPr>
          <p:cNvPr id="11" name="Text 9"/>
          <p:cNvSpPr/>
          <p:nvPr/>
        </p:nvSpPr>
        <p:spPr>
          <a:xfrm>
            <a:off x="877824" y="2057400"/>
            <a:ext cx="2880360" cy="228600"/>
          </a:xfrm>
          <a:prstGeom prst="rect">
            <a:avLst/>
          </a:prstGeom>
          <a:noFill/>
          <a:ln/>
        </p:spPr>
        <p:txBody>
          <a:bodyPr wrap="square" lIns="0" tIns="0" rIns="0" bIns="0" rtlCol="0" anchor="ctr"/>
          <a:lstStyle/>
          <a:p>
            <a:pPr marL="0" indent="0">
              <a:buNone/>
            </a:pPr>
            <a:r>
              <a:rPr lang="en-US" sz="1500" b="1" dirty="0">
                <a:solidFill>
                  <a:srgbClr val="F7FAFF"/>
                </a:solidFill>
                <a:latin typeface="Times New Roman" panose="02020603050405020304" pitchFamily="18" charset="0"/>
                <a:ea typeface="Aptos" pitchFamily="34" charset="-122"/>
                <a:cs typeface="Times New Roman" panose="02020603050405020304" pitchFamily="18" charset="0"/>
              </a:rPr>
              <a:t>Cartons</a:t>
            </a:r>
            <a:endParaRPr lang="en-US" sz="1500" dirty="0">
              <a:latin typeface="Times New Roman" panose="02020603050405020304" pitchFamily="18" charset="0"/>
              <a:cs typeface="Times New Roman" panose="02020603050405020304" pitchFamily="18" charset="0"/>
            </a:endParaRPr>
          </a:p>
        </p:txBody>
      </p:sp>
      <p:sp>
        <p:nvSpPr>
          <p:cNvPr id="12" name="Text 10"/>
          <p:cNvSpPr/>
          <p:nvPr/>
        </p:nvSpPr>
        <p:spPr>
          <a:xfrm>
            <a:off x="877824" y="2322576"/>
            <a:ext cx="2971800" cy="384048"/>
          </a:xfrm>
          <a:prstGeom prst="rect">
            <a:avLst/>
          </a:prstGeom>
          <a:noFill/>
          <a:ln/>
        </p:spPr>
        <p:txBody>
          <a:bodyPr wrap="square" lIns="127" tIns="127" rIns="127" bIns="127" rtlCol="0" anchor="ctr">
            <a:normAutofit/>
          </a:bodyPr>
          <a:lstStyle/>
          <a:p>
            <a:pPr marL="0" indent="0">
              <a:buNone/>
            </a:pPr>
            <a:r>
              <a:rPr lang="en-US" sz="1250" dirty="0">
                <a:solidFill>
                  <a:srgbClr val="AAB6CA"/>
                </a:solidFill>
                <a:latin typeface="Times New Roman" panose="02020603050405020304" pitchFamily="18" charset="0"/>
                <a:ea typeface="Aptos" pitchFamily="34" charset="-122"/>
                <a:cs typeface="Times New Roman" panose="02020603050405020304" pitchFamily="18" charset="0"/>
              </a:rPr>
              <a:t>Inner dimensions, tare mass, max contents mass.</a:t>
            </a:r>
            <a:endParaRPr lang="en-US" sz="1250" dirty="0">
              <a:latin typeface="Times New Roman" panose="02020603050405020304" pitchFamily="18" charset="0"/>
              <a:cs typeface="Times New Roman" panose="02020603050405020304" pitchFamily="18" charset="0"/>
            </a:endParaRPr>
          </a:p>
        </p:txBody>
      </p:sp>
      <p:sp>
        <p:nvSpPr>
          <p:cNvPr id="13" name="Shape 11"/>
          <p:cNvSpPr/>
          <p:nvPr/>
        </p:nvSpPr>
        <p:spPr>
          <a:xfrm>
            <a:off x="713232" y="2825496"/>
            <a:ext cx="73152" cy="420624"/>
          </a:xfrm>
          <a:prstGeom prst="rect">
            <a:avLst/>
          </a:prstGeom>
          <a:solidFill>
            <a:srgbClr val="2DE2C1"/>
          </a:solidFill>
          <a:ln w="12700">
            <a:solidFill>
              <a:srgbClr val="333333">
                <a:alpha val="0"/>
              </a:srgbClr>
            </a:solidFill>
            <a:prstDash val="solid"/>
          </a:ln>
        </p:spPr>
        <p:txBody>
          <a:bodyPr/>
          <a:lstStyle/>
          <a:p>
            <a:endParaRPr lang="en-AU">
              <a:latin typeface="Times New Roman" panose="02020603050405020304" pitchFamily="18" charset="0"/>
              <a:cs typeface="Times New Roman" panose="02020603050405020304" pitchFamily="18" charset="0"/>
            </a:endParaRPr>
          </a:p>
        </p:txBody>
      </p:sp>
      <p:sp>
        <p:nvSpPr>
          <p:cNvPr id="14" name="Text 12"/>
          <p:cNvSpPr/>
          <p:nvPr/>
        </p:nvSpPr>
        <p:spPr>
          <a:xfrm>
            <a:off x="877824" y="2761488"/>
            <a:ext cx="2880360" cy="228600"/>
          </a:xfrm>
          <a:prstGeom prst="rect">
            <a:avLst/>
          </a:prstGeom>
          <a:noFill/>
          <a:ln/>
        </p:spPr>
        <p:txBody>
          <a:bodyPr wrap="square" lIns="0" tIns="0" rIns="0" bIns="0" rtlCol="0" anchor="ctr"/>
          <a:lstStyle/>
          <a:p>
            <a:pPr marL="0" indent="0">
              <a:buNone/>
            </a:pPr>
            <a:r>
              <a:rPr lang="en-US" sz="1500" b="1" dirty="0">
                <a:solidFill>
                  <a:srgbClr val="F7FAFF"/>
                </a:solidFill>
                <a:latin typeface="Times New Roman" panose="02020603050405020304" pitchFamily="18" charset="0"/>
                <a:ea typeface="Aptos" pitchFamily="34" charset="-122"/>
                <a:cs typeface="Times New Roman" panose="02020603050405020304" pitchFamily="18" charset="0"/>
              </a:rPr>
              <a:t>Items</a:t>
            </a:r>
            <a:endParaRPr lang="en-US" sz="1500" dirty="0">
              <a:latin typeface="Times New Roman" panose="02020603050405020304" pitchFamily="18" charset="0"/>
              <a:cs typeface="Times New Roman" panose="02020603050405020304" pitchFamily="18" charset="0"/>
            </a:endParaRPr>
          </a:p>
        </p:txBody>
      </p:sp>
      <p:sp>
        <p:nvSpPr>
          <p:cNvPr id="15" name="Text 13"/>
          <p:cNvSpPr/>
          <p:nvPr/>
        </p:nvSpPr>
        <p:spPr>
          <a:xfrm>
            <a:off x="877824" y="3026664"/>
            <a:ext cx="2971800" cy="384048"/>
          </a:xfrm>
          <a:prstGeom prst="rect">
            <a:avLst/>
          </a:prstGeom>
          <a:noFill/>
          <a:ln/>
        </p:spPr>
        <p:txBody>
          <a:bodyPr wrap="square" lIns="127" tIns="127" rIns="127" bIns="127" rtlCol="0" anchor="ctr">
            <a:normAutofit/>
          </a:bodyPr>
          <a:lstStyle/>
          <a:p>
            <a:pPr marL="0" indent="0">
              <a:buNone/>
            </a:pPr>
            <a:r>
              <a:rPr lang="en-US" sz="1250" dirty="0">
                <a:solidFill>
                  <a:srgbClr val="AAB6CA"/>
                </a:solidFill>
                <a:latin typeface="Times New Roman" panose="02020603050405020304" pitchFamily="18" charset="0"/>
                <a:ea typeface="Aptos" pitchFamily="34" charset="-122"/>
                <a:cs typeface="Times New Roman" panose="02020603050405020304" pitchFamily="18" charset="0"/>
              </a:rPr>
              <a:t>Reference, size, mass; quantity expands to separate units.</a:t>
            </a:r>
            <a:endParaRPr lang="en-US" sz="1250" dirty="0">
              <a:latin typeface="Times New Roman" panose="02020603050405020304" pitchFamily="18" charset="0"/>
              <a:cs typeface="Times New Roman" panose="02020603050405020304" pitchFamily="18" charset="0"/>
            </a:endParaRPr>
          </a:p>
        </p:txBody>
      </p:sp>
      <p:sp>
        <p:nvSpPr>
          <p:cNvPr id="16" name="Shape 14"/>
          <p:cNvSpPr/>
          <p:nvPr/>
        </p:nvSpPr>
        <p:spPr>
          <a:xfrm>
            <a:off x="713232" y="4590288"/>
            <a:ext cx="73152" cy="420624"/>
          </a:xfrm>
          <a:prstGeom prst="rect">
            <a:avLst/>
          </a:prstGeom>
          <a:solidFill>
            <a:srgbClr val="FFCF5A"/>
          </a:solidFill>
          <a:ln w="12700">
            <a:solidFill>
              <a:srgbClr val="333333">
                <a:alpha val="0"/>
              </a:srgbClr>
            </a:solidFill>
            <a:prstDash val="solid"/>
          </a:ln>
        </p:spPr>
        <p:txBody>
          <a:bodyPr/>
          <a:lstStyle/>
          <a:p>
            <a:endParaRPr lang="en-AU">
              <a:latin typeface="Times New Roman" panose="02020603050405020304" pitchFamily="18" charset="0"/>
              <a:cs typeface="Times New Roman" panose="02020603050405020304" pitchFamily="18" charset="0"/>
            </a:endParaRPr>
          </a:p>
        </p:txBody>
      </p:sp>
      <p:sp>
        <p:nvSpPr>
          <p:cNvPr id="17" name="Text 15"/>
          <p:cNvSpPr/>
          <p:nvPr/>
        </p:nvSpPr>
        <p:spPr>
          <a:xfrm>
            <a:off x="877824" y="4526280"/>
            <a:ext cx="2880360" cy="228600"/>
          </a:xfrm>
          <a:prstGeom prst="rect">
            <a:avLst/>
          </a:prstGeom>
          <a:noFill/>
          <a:ln/>
        </p:spPr>
        <p:txBody>
          <a:bodyPr wrap="square" lIns="0" tIns="0" rIns="0" bIns="0" rtlCol="0" anchor="ctr"/>
          <a:lstStyle/>
          <a:p>
            <a:pPr marL="0" indent="0">
              <a:buNone/>
            </a:pPr>
            <a:r>
              <a:rPr lang="en-US" sz="1500" b="1" dirty="0">
                <a:solidFill>
                  <a:srgbClr val="F7FAFF"/>
                </a:solidFill>
                <a:latin typeface="Times New Roman" panose="02020603050405020304" pitchFamily="18" charset="0"/>
                <a:ea typeface="Aptos" pitchFamily="34" charset="-122"/>
                <a:cs typeface="Times New Roman" panose="02020603050405020304" pitchFamily="18" charset="0"/>
              </a:rPr>
              <a:t>Optional constraints</a:t>
            </a:r>
            <a:endParaRPr lang="en-US" sz="1500" dirty="0">
              <a:latin typeface="Times New Roman" panose="02020603050405020304" pitchFamily="18" charset="0"/>
              <a:cs typeface="Times New Roman" panose="02020603050405020304" pitchFamily="18" charset="0"/>
            </a:endParaRPr>
          </a:p>
        </p:txBody>
      </p:sp>
      <p:sp>
        <p:nvSpPr>
          <p:cNvPr id="18" name="Text 16"/>
          <p:cNvSpPr/>
          <p:nvPr/>
        </p:nvSpPr>
        <p:spPr>
          <a:xfrm>
            <a:off x="877824" y="4791456"/>
            <a:ext cx="2971800" cy="384048"/>
          </a:xfrm>
          <a:prstGeom prst="rect">
            <a:avLst/>
          </a:prstGeom>
          <a:noFill/>
          <a:ln/>
        </p:spPr>
        <p:txBody>
          <a:bodyPr wrap="square" lIns="127" tIns="127" rIns="127" bIns="127" rtlCol="0" anchor="ctr">
            <a:normAutofit/>
          </a:bodyPr>
          <a:lstStyle/>
          <a:p>
            <a:pPr marL="0" indent="0">
              <a:buNone/>
            </a:pPr>
            <a:r>
              <a:rPr lang="en-US" sz="1250" dirty="0">
                <a:solidFill>
                  <a:srgbClr val="AAB6CA"/>
                </a:solidFill>
                <a:latin typeface="Times New Roman" panose="02020603050405020304" pitchFamily="18" charset="0"/>
                <a:ea typeface="Aptos" pitchFamily="34" charset="-122"/>
                <a:cs typeface="Times New Roman" panose="02020603050405020304" pitchFamily="18" charset="0"/>
              </a:rPr>
              <a:t>DG class, incompatibility, and allowed rotations.</a:t>
            </a:r>
            <a:endParaRPr lang="en-US" sz="1250" dirty="0">
              <a:latin typeface="Times New Roman" panose="02020603050405020304" pitchFamily="18" charset="0"/>
              <a:cs typeface="Times New Roman" panose="02020603050405020304" pitchFamily="18" charset="0"/>
            </a:endParaRPr>
          </a:p>
        </p:txBody>
      </p:sp>
      <p:sp>
        <p:nvSpPr>
          <p:cNvPr id="19" name="Text 17"/>
          <p:cNvSpPr/>
          <p:nvPr/>
        </p:nvSpPr>
        <p:spPr>
          <a:xfrm>
            <a:off x="6720840" y="1325880"/>
            <a:ext cx="4892040" cy="4754880"/>
          </a:xfrm>
          <a:prstGeom prst="rect">
            <a:avLst/>
          </a:prstGeom>
          <a:solidFill>
            <a:srgbClr val="050A14"/>
          </a:solidFill>
          <a:ln w="12700">
            <a:solidFill>
              <a:srgbClr val="24304D"/>
            </a:solidFill>
          </a:ln>
        </p:spPr>
        <p:txBody>
          <a:bodyPr wrap="square" lIns="1905" tIns="1905" rIns="1905" bIns="1905" rtlCol="0" anchor="ctr">
            <a:normAutofit/>
          </a:bodyPr>
          <a:lstStyle/>
          <a:p>
            <a:pPr marL="0" indent="0">
              <a:buNone/>
            </a:pPr>
            <a:endParaRPr lang="en-US" sz="1040" dirty="0"/>
          </a:p>
        </p:txBody>
      </p:sp>
      <p:sp>
        <p:nvSpPr>
          <p:cNvPr id="20" name="Text 18"/>
          <p:cNvSpPr/>
          <p:nvPr/>
        </p:nvSpPr>
        <p:spPr>
          <a:xfrm>
            <a:off x="6899148" y="1550673"/>
            <a:ext cx="4434840" cy="347472"/>
          </a:xfrm>
          <a:prstGeom prst="rect">
            <a:avLst/>
          </a:prstGeom>
          <a:solidFill>
            <a:srgbClr val="FFCF5A"/>
          </a:solidFill>
          <a:ln>
            <a:solidFill>
              <a:srgbClr val="FFCF5A">
                <a:alpha val="0"/>
              </a:srgbClr>
            </a:solidFill>
          </a:ln>
        </p:spPr>
        <p:txBody>
          <a:bodyPr wrap="square" lIns="508" tIns="508" rIns="508" bIns="508" rtlCol="0" anchor="ctr"/>
          <a:lstStyle/>
          <a:p>
            <a:pPr marL="0" indent="0" algn="ctr">
              <a:buNone/>
            </a:pPr>
            <a:r>
              <a:rPr lang="en-US" sz="1300" b="1" dirty="0">
                <a:solidFill>
                  <a:srgbClr val="08111F"/>
                </a:solidFill>
                <a:latin typeface="Times New Roman" panose="02020603050405020304" pitchFamily="18" charset="0"/>
                <a:ea typeface="Aptos" pitchFamily="34" charset="-122"/>
                <a:cs typeface="Times New Roman" panose="02020603050405020304" pitchFamily="18" charset="0"/>
              </a:rPr>
              <a:t>JSON File: 2 Items</a:t>
            </a:r>
            <a:endParaRPr lang="en-US" sz="1300" dirty="0">
              <a:latin typeface="Times New Roman" panose="02020603050405020304" pitchFamily="18" charset="0"/>
              <a:cs typeface="Times New Roman" panose="02020603050405020304" pitchFamily="18" charset="0"/>
            </a:endParaRPr>
          </a:p>
        </p:txBody>
      </p:sp>
      <p:sp>
        <p:nvSpPr>
          <p:cNvPr id="21" name="Text 19"/>
          <p:cNvSpPr/>
          <p:nvPr/>
        </p:nvSpPr>
        <p:spPr>
          <a:xfrm>
            <a:off x="713232" y="6391656"/>
            <a:ext cx="8046720" cy="201168"/>
          </a:xfrm>
          <a:prstGeom prst="rect">
            <a:avLst/>
          </a:prstGeom>
          <a:noFill/>
          <a:ln/>
        </p:spPr>
        <p:txBody>
          <a:bodyPr wrap="square" lIns="0" tIns="0" rIns="0" bIns="0" rtlCol="0" anchor="ctr"/>
          <a:lstStyle/>
          <a:p>
            <a:pPr marL="0" indent="0">
              <a:buNone/>
            </a:pPr>
            <a:r>
              <a:rPr lang="en-US" sz="950" dirty="0">
                <a:solidFill>
                  <a:srgbClr val="7485A6"/>
                </a:solidFill>
                <a:latin typeface="Times New Roman" panose="02020603050405020304" pitchFamily="18" charset="0"/>
                <a:ea typeface="Aptos" pitchFamily="34" charset="-122"/>
                <a:cs typeface="Times New Roman" panose="02020603050405020304" pitchFamily="18" charset="0"/>
              </a:rPr>
              <a:t>All input geometry is integer millimetres; all mass is integer grams.</a:t>
            </a:r>
            <a:endParaRPr lang="en-US" sz="95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384280" y="619963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70809D"/>
                </a:solidFill>
                <a:latin typeface="Aptos"/>
                <a:ea typeface="Aptos"/>
                <a:cs typeface="Aptos"/>
              </a:defRPr>
            </a:lvl1pPr>
          </a:lstStyle>
          <a:p>
            <a:pPr algn="l"/>
            <a:fld id="{F7021451-1387-4CA6-816F-3879F97B5CBC}" type="slidenum">
              <a:rPr lang="en-US" b="0"/>
              <a:t>1</a:t>
            </a:fld>
            <a:endParaRPr lang="en-US"/>
          </a:p>
        </p:txBody>
      </p:sp>
      <p:sp>
        <p:nvSpPr>
          <p:cNvPr id="26" name="TextBox 25">
            <a:extLst>
              <a:ext uri="{FF2B5EF4-FFF2-40B4-BE49-F238E27FC236}">
                <a16:creationId xmlns:a16="http://schemas.microsoft.com/office/drawing/2014/main" id="{1CDFFEB2-A347-8895-5544-A88D740F9285}"/>
              </a:ext>
            </a:extLst>
          </p:cNvPr>
          <p:cNvSpPr txBox="1"/>
          <p:nvPr/>
        </p:nvSpPr>
        <p:spPr>
          <a:xfrm>
            <a:off x="7217761" y="1985013"/>
            <a:ext cx="3806758" cy="3308598"/>
          </a:xfrm>
          <a:prstGeom prst="rect">
            <a:avLst/>
          </a:prstGeom>
          <a:noFill/>
        </p:spPr>
        <p:txBody>
          <a:bodyPr wrap="square" rtlCol="0">
            <a:spAutoFit/>
          </a:bodyPr>
          <a:lstStyle/>
          <a:p>
            <a:r>
              <a:rPr lang="en-US" sz="1100" dirty="0">
                <a:solidFill>
                  <a:srgbClr val="D6E4FF"/>
                </a:solidFill>
                <a:latin typeface="Cascadia Mono" pitchFamily="34" charset="0"/>
                <a:ea typeface="Cascadia Mono" pitchFamily="34" charset="-122"/>
                <a:cs typeface="Cascadia Mono" pitchFamily="34" charset="-120"/>
              </a:rPr>
              <a:t>{</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r>
              <a:rPr lang="en-US" sz="1100" dirty="0" err="1">
                <a:solidFill>
                  <a:srgbClr val="D6E4FF"/>
                </a:solidFill>
                <a:latin typeface="Cascadia Mono" pitchFamily="34" charset="0"/>
                <a:ea typeface="Cascadia Mono" pitchFamily="34" charset="-122"/>
                <a:cs typeface="Cascadia Mono" pitchFamily="34" charset="-120"/>
              </a:rPr>
              <a:t>order_id</a:t>
            </a:r>
            <a:r>
              <a:rPr lang="en-US" sz="1100" dirty="0">
                <a:solidFill>
                  <a:srgbClr val="D6E4FF"/>
                </a:solidFill>
                <a:latin typeface="Cascadia Mono" pitchFamily="34" charset="0"/>
                <a:ea typeface="Cascadia Mono" pitchFamily="34" charset="-122"/>
                <a:cs typeface="Cascadia Mono" pitchFamily="34" charset="-120"/>
              </a:rPr>
              <a:t>": "ORD-77",</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"cartons": [{</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r>
              <a:rPr lang="en-US" sz="1100" dirty="0" err="1">
                <a:solidFill>
                  <a:srgbClr val="D6E4FF"/>
                </a:solidFill>
                <a:latin typeface="Cascadia Mono" pitchFamily="34" charset="0"/>
                <a:ea typeface="Cascadia Mono" pitchFamily="34" charset="-122"/>
                <a:cs typeface="Cascadia Mono" pitchFamily="34" charset="-120"/>
              </a:rPr>
              <a:t>sku</a:t>
            </a:r>
            <a:r>
              <a:rPr lang="en-US" sz="1100" dirty="0">
                <a:solidFill>
                  <a:srgbClr val="D6E4FF"/>
                </a:solidFill>
                <a:latin typeface="Cascadia Mono" pitchFamily="34" charset="0"/>
                <a:ea typeface="Cascadia Mono" pitchFamily="34" charset="-122"/>
                <a:cs typeface="Cascadia Mono" pitchFamily="34" charset="-120"/>
              </a:rPr>
              <a:t>": "BOX-S",</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r>
              <a:rPr lang="en-US" sz="1100" dirty="0" err="1">
                <a:solidFill>
                  <a:srgbClr val="D6E4FF"/>
                </a:solidFill>
                <a:latin typeface="Cascadia Mono" pitchFamily="34" charset="0"/>
                <a:ea typeface="Cascadia Mono" pitchFamily="34" charset="-122"/>
                <a:cs typeface="Cascadia Mono" pitchFamily="34" charset="-120"/>
              </a:rPr>
              <a:t>inner_dims</a:t>
            </a:r>
            <a:r>
              <a:rPr lang="en-US" sz="1100" dirty="0">
                <a:solidFill>
                  <a:srgbClr val="D6E4FF"/>
                </a:solidFill>
                <a:latin typeface="Cascadia Mono" pitchFamily="34" charset="0"/>
                <a:ea typeface="Cascadia Mono" pitchFamily="34" charset="-122"/>
                <a:cs typeface="Cascadia Mono" pitchFamily="34" charset="-120"/>
              </a:rPr>
              <a:t>": [220,160,120],</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r>
              <a:rPr lang="en-US" sz="1100" dirty="0" err="1">
                <a:solidFill>
                  <a:srgbClr val="D6E4FF"/>
                </a:solidFill>
                <a:latin typeface="Cascadia Mono" pitchFamily="34" charset="0"/>
                <a:ea typeface="Cascadia Mono" pitchFamily="34" charset="-122"/>
                <a:cs typeface="Cascadia Mono" pitchFamily="34" charset="-120"/>
              </a:rPr>
              <a:t>tare_mass</a:t>
            </a:r>
            <a:r>
              <a:rPr lang="en-US" sz="1100" dirty="0">
                <a:solidFill>
                  <a:srgbClr val="D6E4FF"/>
                </a:solidFill>
                <a:latin typeface="Cascadia Mono" pitchFamily="34" charset="0"/>
                <a:ea typeface="Cascadia Mono" pitchFamily="34" charset="-122"/>
                <a:cs typeface="Cascadia Mono" pitchFamily="34" charset="-120"/>
              </a:rPr>
              <a:t>": 120,</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r>
              <a:rPr lang="en-US" sz="1100" dirty="0" err="1">
                <a:solidFill>
                  <a:srgbClr val="D6E4FF"/>
                </a:solidFill>
                <a:latin typeface="Cascadia Mono" pitchFamily="34" charset="0"/>
                <a:ea typeface="Cascadia Mono" pitchFamily="34" charset="-122"/>
                <a:cs typeface="Cascadia Mono" pitchFamily="34" charset="-120"/>
              </a:rPr>
              <a:t>max_contents_mass</a:t>
            </a:r>
            <a:r>
              <a:rPr lang="en-US" sz="1100" dirty="0">
                <a:solidFill>
                  <a:srgbClr val="D6E4FF"/>
                </a:solidFill>
                <a:latin typeface="Cascadia Mono" pitchFamily="34" charset="0"/>
                <a:ea typeface="Cascadia Mono" pitchFamily="34" charset="-122"/>
                <a:cs typeface="Cascadia Mono" pitchFamily="34" charset="-120"/>
              </a:rPr>
              <a:t>": 5000</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"items": [</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 "</a:t>
            </a:r>
            <a:r>
              <a:rPr lang="en-US" sz="1100" dirty="0" err="1">
                <a:solidFill>
                  <a:srgbClr val="D6E4FF"/>
                </a:solidFill>
                <a:latin typeface="Cascadia Mono" pitchFamily="34" charset="0"/>
                <a:ea typeface="Cascadia Mono" pitchFamily="34" charset="-122"/>
                <a:cs typeface="Cascadia Mono" pitchFamily="34" charset="-120"/>
              </a:rPr>
              <a:t>item_ref</a:t>
            </a:r>
            <a:r>
              <a:rPr lang="en-US" sz="1100" dirty="0">
                <a:solidFill>
                  <a:srgbClr val="D6E4FF"/>
                </a:solidFill>
                <a:latin typeface="Cascadia Mono" pitchFamily="34" charset="0"/>
                <a:ea typeface="Cascadia Mono" pitchFamily="34" charset="-122"/>
                <a:cs typeface="Cascadia Mono" pitchFamily="34" charset="-120"/>
              </a:rPr>
              <a:t>": "BOOK",</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"dims": [200,150,40],</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"mass": 800, "quantity": 2 },</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 "</a:t>
            </a:r>
            <a:r>
              <a:rPr lang="en-US" sz="1100" dirty="0" err="1">
                <a:solidFill>
                  <a:srgbClr val="D6E4FF"/>
                </a:solidFill>
                <a:latin typeface="Cascadia Mono" pitchFamily="34" charset="0"/>
                <a:ea typeface="Cascadia Mono" pitchFamily="34" charset="-122"/>
                <a:cs typeface="Cascadia Mono" pitchFamily="34" charset="-120"/>
              </a:rPr>
              <a:t>item_ref</a:t>
            </a:r>
            <a:r>
              <a:rPr lang="en-US" sz="1100" dirty="0">
                <a:solidFill>
                  <a:srgbClr val="D6E4FF"/>
                </a:solidFill>
                <a:latin typeface="Cascadia Mono" pitchFamily="34" charset="0"/>
                <a:ea typeface="Cascadia Mono" pitchFamily="34" charset="-122"/>
                <a:cs typeface="Cascadia Mono" pitchFamily="34" charset="-120"/>
              </a:rPr>
              <a:t>": "PAINT",</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"dims": [100,100,120],</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"mass": 400,</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r>
              <a:rPr lang="en-US" sz="1100" dirty="0" err="1">
                <a:solidFill>
                  <a:srgbClr val="D6E4FF"/>
                </a:solidFill>
                <a:latin typeface="Cascadia Mono" pitchFamily="34" charset="0"/>
                <a:ea typeface="Cascadia Mono" pitchFamily="34" charset="-122"/>
                <a:cs typeface="Cascadia Mono" pitchFamily="34" charset="-120"/>
              </a:rPr>
              <a:t>dg_class</a:t>
            </a:r>
            <a:r>
              <a:rPr lang="en-US" sz="1100" dirty="0">
                <a:solidFill>
                  <a:srgbClr val="D6E4FF"/>
                </a:solidFill>
                <a:latin typeface="Cascadia Mono" pitchFamily="34" charset="0"/>
                <a:ea typeface="Cascadia Mono" pitchFamily="34" charset="-122"/>
                <a:cs typeface="Cascadia Mono" pitchFamily="34" charset="-120"/>
              </a:rPr>
              <a:t>": "3",</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r>
              <a:rPr lang="en-US" sz="1100" dirty="0" err="1">
                <a:solidFill>
                  <a:srgbClr val="D6E4FF"/>
                </a:solidFill>
                <a:latin typeface="Cascadia Mono" pitchFamily="34" charset="0"/>
                <a:ea typeface="Cascadia Mono" pitchFamily="34" charset="-122"/>
                <a:cs typeface="Cascadia Mono" pitchFamily="34" charset="-120"/>
              </a:rPr>
              <a:t>allowed_rotations</a:t>
            </a:r>
            <a:r>
              <a:rPr lang="en-US" sz="1100" dirty="0">
                <a:solidFill>
                  <a:srgbClr val="D6E4FF"/>
                </a:solidFill>
                <a:latin typeface="Cascadia Mono" pitchFamily="34" charset="0"/>
                <a:ea typeface="Cascadia Mono" pitchFamily="34" charset="-122"/>
                <a:cs typeface="Cascadia Mono" pitchFamily="34" charset="-120"/>
              </a:rPr>
              <a:t>": "upright" }</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  ]</a:t>
            </a:r>
            <a:endParaRPr lang="en-US" sz="1100" dirty="0"/>
          </a:p>
          <a:p>
            <a:r>
              <a:rPr lang="en-US" sz="1100" dirty="0">
                <a:solidFill>
                  <a:srgbClr val="D6E4FF"/>
                </a:solidFill>
                <a:latin typeface="Cascadia Mono" pitchFamily="34" charset="0"/>
                <a:ea typeface="Cascadia Mono" pitchFamily="34" charset="-122"/>
                <a:cs typeface="Cascadia Mono" pitchFamily="34" charset="-120"/>
              </a:rPr>
              <a: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3232" y="347472"/>
            <a:ext cx="2468880" cy="228600"/>
          </a:xfrm>
          <a:prstGeom prst="rect">
            <a:avLst/>
          </a:prstGeom>
          <a:noFill/>
          <a:ln/>
        </p:spPr>
        <p:txBody>
          <a:bodyPr wrap="square" lIns="0" tIns="0" rIns="0" bIns="0" rtlCol="0" anchor="ctr"/>
          <a:lstStyle/>
          <a:p>
            <a:pPr marL="0" indent="0">
              <a:buNone/>
            </a:pPr>
            <a:r>
              <a:rPr lang="en-US" sz="900" b="1" dirty="0">
                <a:solidFill>
                  <a:srgbClr val="2DE2C1"/>
                </a:solidFill>
                <a:latin typeface="Times New Roman" panose="02020603050405020304" pitchFamily="18" charset="0"/>
                <a:ea typeface="Aptos" pitchFamily="34" charset="-122"/>
                <a:cs typeface="Times New Roman" panose="02020603050405020304" pitchFamily="18" charset="0"/>
              </a:rPr>
              <a:t>OUTPUT CONTRACT</a:t>
            </a:r>
            <a:endParaRPr lang="en-US" sz="900" dirty="0">
              <a:latin typeface="Times New Roman" panose="02020603050405020304" pitchFamily="18" charset="0"/>
              <a:cs typeface="Times New Roman" panose="02020603050405020304" pitchFamily="18" charset="0"/>
            </a:endParaRPr>
          </a:p>
        </p:txBody>
      </p:sp>
      <p:sp>
        <p:nvSpPr>
          <p:cNvPr id="3" name="Text 1"/>
          <p:cNvSpPr/>
          <p:nvPr/>
        </p:nvSpPr>
        <p:spPr>
          <a:xfrm>
            <a:off x="685800" y="603504"/>
            <a:ext cx="10835640" cy="548640"/>
          </a:xfrm>
          <a:prstGeom prst="rect">
            <a:avLst/>
          </a:prstGeom>
          <a:noFill/>
          <a:ln/>
        </p:spPr>
        <p:txBody>
          <a:bodyPr wrap="square" lIns="0" tIns="0" rIns="0" bIns="0" rtlCol="0" anchor="ctr"/>
          <a:lstStyle/>
          <a:p>
            <a:pPr marL="0" indent="0">
              <a:buNone/>
            </a:pPr>
            <a:r>
              <a:rPr lang="en-US" sz="3400" b="1" dirty="0">
                <a:solidFill>
                  <a:srgbClr val="F7FAFF"/>
                </a:solidFill>
                <a:latin typeface="Times New Roman" panose="02020603050405020304" pitchFamily="18" charset="0"/>
                <a:ea typeface="Aptos Display" pitchFamily="34" charset="-122"/>
                <a:cs typeface="Times New Roman" panose="02020603050405020304" pitchFamily="18" charset="0"/>
              </a:rPr>
              <a:t>What comes out: a self-contained scene</a:t>
            </a:r>
            <a:endParaRPr lang="en-US" sz="3400" b="1" dirty="0">
              <a:latin typeface="Times New Roman" panose="02020603050405020304" pitchFamily="18" charset="0"/>
              <a:cs typeface="Times New Roman" panose="02020603050405020304" pitchFamily="18" charset="0"/>
            </a:endParaRPr>
          </a:p>
        </p:txBody>
      </p:sp>
      <p:sp>
        <p:nvSpPr>
          <p:cNvPr id="4" name="Text 2"/>
          <p:cNvSpPr/>
          <p:nvPr/>
        </p:nvSpPr>
        <p:spPr>
          <a:xfrm>
            <a:off x="713232" y="1234440"/>
            <a:ext cx="5669280" cy="640080"/>
          </a:xfrm>
          <a:prstGeom prst="rect">
            <a:avLst/>
          </a:prstGeom>
          <a:noFill/>
          <a:ln/>
        </p:spPr>
        <p:txBody>
          <a:bodyPr wrap="square" lIns="0" tIns="0" rIns="0" bIns="0" rtlCol="0" anchor="ctr">
            <a:normAutofit/>
          </a:bodyPr>
          <a:lstStyle/>
          <a:p>
            <a:pPr marL="0" indent="0">
              <a:buNone/>
            </a:pPr>
            <a:r>
              <a:rPr lang="en-US" sz="1400" dirty="0">
                <a:solidFill>
                  <a:srgbClr val="AAB6CA"/>
                </a:solidFill>
                <a:latin typeface="Times New Roman" panose="02020603050405020304" pitchFamily="18" charset="0"/>
                <a:ea typeface="Aptos" pitchFamily="34" charset="-122"/>
                <a:cs typeface="Times New Roman" panose="02020603050405020304" pitchFamily="18" charset="0"/>
              </a:rPr>
              <a:t>The visualiser should not look anything up. Every placement carries the final position, final dimensions and display detail needed to draw the carton.</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713232" y="6391656"/>
            <a:ext cx="8046720" cy="201168"/>
          </a:xfrm>
          <a:prstGeom prst="rect">
            <a:avLst/>
          </a:prstGeom>
          <a:noFill/>
          <a:ln/>
        </p:spPr>
        <p:txBody>
          <a:bodyPr wrap="square" lIns="0" tIns="0" rIns="0" bIns="0" rtlCol="0" anchor="ctr"/>
          <a:lstStyle/>
          <a:p>
            <a:pPr marL="0" indent="0">
              <a:buNone/>
            </a:pPr>
            <a:endParaRPr lang="en-US" sz="95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384280" y="619963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70809D"/>
                </a:solidFill>
                <a:latin typeface="Aptos"/>
                <a:ea typeface="Aptos"/>
                <a:cs typeface="Aptos"/>
              </a:defRPr>
            </a:lvl1pPr>
          </a:lstStyle>
          <a:p>
            <a:pPr algn="l"/>
            <a:fld id="{F7021451-1387-4CA6-816F-3879F97B5CBC}" type="slidenum">
              <a:rPr lang="en-US" b="0"/>
              <a:t>2</a:t>
            </a:fld>
            <a:endParaRPr lang="en-US"/>
          </a:p>
        </p:txBody>
      </p:sp>
      <p:pic>
        <p:nvPicPr>
          <p:cNvPr id="17" name="Picture 16" descr="The image shows a 3D rendered scene of a box with internal dimensions of 220mm x 160mm x 120mm, with a mug positioned inside at the origin (0,0,0), and the orientation vector is (100,100,110).&#10;&#10;AI-generated content may be incorrect.">
            <a:extLst>
              <a:ext uri="{FF2B5EF4-FFF2-40B4-BE49-F238E27FC236}">
                <a16:creationId xmlns:a16="http://schemas.microsoft.com/office/drawing/2014/main" id="{5A049B80-CE41-2A0D-5F40-2920D2C3DD4C}"/>
              </a:ext>
            </a:extLst>
          </p:cNvPr>
          <p:cNvPicPr>
            <a:picLocks noChangeAspect="1"/>
          </p:cNvPicPr>
          <p:nvPr/>
        </p:nvPicPr>
        <p:blipFill>
          <a:blip r:embed="rId3"/>
          <a:stretch>
            <a:fillRect/>
          </a:stretch>
        </p:blipFill>
        <p:spPr>
          <a:xfrm>
            <a:off x="5157605" y="1956816"/>
            <a:ext cx="5713038" cy="3907695"/>
          </a:xfrm>
          <a:prstGeom prst="rect">
            <a:avLst/>
          </a:prstGeom>
        </p:spPr>
      </p:pic>
      <p:pic>
        <p:nvPicPr>
          <p:cNvPr id="19" name="Picture 18" descr="Mug&#10;&#10;AI-generated content may be incorrect.">
            <a:extLst>
              <a:ext uri="{FF2B5EF4-FFF2-40B4-BE49-F238E27FC236}">
                <a16:creationId xmlns:a16="http://schemas.microsoft.com/office/drawing/2014/main" id="{73E61880-4376-B6BF-045D-7664B274FA78}"/>
              </a:ext>
            </a:extLst>
          </p:cNvPr>
          <p:cNvPicPr>
            <a:picLocks noChangeAspect="1"/>
          </p:cNvPicPr>
          <p:nvPr/>
        </p:nvPicPr>
        <p:blipFill>
          <a:blip r:embed="rId4"/>
          <a:stretch>
            <a:fillRect/>
          </a:stretch>
        </p:blipFill>
        <p:spPr>
          <a:xfrm>
            <a:off x="386028" y="2078859"/>
            <a:ext cx="3123288" cy="3194057"/>
          </a:xfrm>
          <a:prstGeom prst="rect">
            <a:avLst/>
          </a:prstGeom>
        </p:spPr>
      </p:pic>
      <p:sp>
        <p:nvSpPr>
          <p:cNvPr id="27" name="Text 18">
            <a:extLst>
              <a:ext uri="{FF2B5EF4-FFF2-40B4-BE49-F238E27FC236}">
                <a16:creationId xmlns:a16="http://schemas.microsoft.com/office/drawing/2014/main" id="{32A7AB5C-9A34-10DB-9515-2D2674DE77D5}"/>
              </a:ext>
            </a:extLst>
          </p:cNvPr>
          <p:cNvSpPr/>
          <p:nvPr/>
        </p:nvSpPr>
        <p:spPr>
          <a:xfrm>
            <a:off x="2780705" y="5858627"/>
            <a:ext cx="6758501" cy="420445"/>
          </a:xfrm>
          <a:prstGeom prst="rect">
            <a:avLst/>
          </a:prstGeom>
          <a:solidFill>
            <a:srgbClr val="87EFD8"/>
          </a:solidFill>
          <a:ln>
            <a:solidFill>
              <a:srgbClr val="FFCF5A">
                <a:alpha val="0"/>
              </a:srgbClr>
            </a:solidFill>
          </a:ln>
        </p:spPr>
        <p:txBody>
          <a:bodyPr wrap="square" lIns="508" tIns="508" rIns="508" bIns="508" rtlCol="0" anchor="ctr"/>
          <a:lstStyle/>
          <a:p>
            <a:pPr marL="0" indent="0" algn="ctr">
              <a:buNone/>
            </a:pPr>
            <a:r>
              <a:rPr lang="en-US" sz="1300" b="1" dirty="0">
                <a:latin typeface="+mj-lt"/>
                <a:cs typeface="Times New Roman" panose="02020603050405020304" pitchFamily="18" charset="0"/>
              </a:rPr>
              <a:t>Renderer rule: Draw the box from position + Dimensions.</a:t>
            </a:r>
          </a:p>
          <a:p>
            <a:pPr marL="0" indent="0" algn="ctr">
              <a:buNone/>
            </a:pPr>
            <a:r>
              <a:rPr lang="en-US" sz="1300" b="1" dirty="0">
                <a:latin typeface="+mj-lt"/>
                <a:cs typeface="Times New Roman" panose="02020603050405020304" pitchFamily="18" charset="0"/>
              </a:rPr>
              <a:t>No extra math or catalog lookup</a:t>
            </a:r>
          </a:p>
        </p:txBody>
      </p:sp>
      <p:pic>
        <p:nvPicPr>
          <p:cNvPr id="29" name="Picture 28" descr="The image shows a black background with a blue arrow pointing to the right, indicating readiness or direction to draw.&#10;&#10;AI-generated content may be incorrect.">
            <a:extLst>
              <a:ext uri="{FF2B5EF4-FFF2-40B4-BE49-F238E27FC236}">
                <a16:creationId xmlns:a16="http://schemas.microsoft.com/office/drawing/2014/main" id="{B622BAB1-9CD2-002B-2C6C-132600531825}"/>
              </a:ext>
            </a:extLst>
          </p:cNvPr>
          <p:cNvPicPr>
            <a:picLocks noChangeAspect="1"/>
          </p:cNvPicPr>
          <p:nvPr/>
        </p:nvPicPr>
        <p:blipFill>
          <a:blip r:embed="rId5"/>
          <a:stretch>
            <a:fillRect/>
          </a:stretch>
        </p:blipFill>
        <p:spPr>
          <a:xfrm>
            <a:off x="3688818" y="3350497"/>
            <a:ext cx="1289285" cy="6507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3232" y="347472"/>
            <a:ext cx="2468880" cy="228600"/>
          </a:xfrm>
          <a:prstGeom prst="rect">
            <a:avLst/>
          </a:prstGeom>
          <a:noFill/>
          <a:ln/>
        </p:spPr>
        <p:txBody>
          <a:bodyPr wrap="square" lIns="0" tIns="0" rIns="0" bIns="0" rtlCol="0" anchor="ctr"/>
          <a:lstStyle/>
          <a:p>
            <a:pPr marL="0" indent="0">
              <a:buNone/>
            </a:pPr>
            <a:r>
              <a:rPr lang="en-US" sz="900" b="1" dirty="0">
                <a:solidFill>
                  <a:srgbClr val="2DE2C1"/>
                </a:solidFill>
                <a:latin typeface="Times New Roman" panose="02020603050405020304" pitchFamily="18" charset="0"/>
                <a:ea typeface="Aptos" pitchFamily="34" charset="-122"/>
                <a:cs typeface="Times New Roman" panose="02020603050405020304" pitchFamily="18" charset="0"/>
              </a:rPr>
              <a:t>VALIDATION BEHAVIOUR</a:t>
            </a:r>
            <a:endParaRPr lang="en-US" sz="900" dirty="0">
              <a:latin typeface="Times New Roman" panose="02020603050405020304" pitchFamily="18" charset="0"/>
              <a:cs typeface="Times New Roman" panose="02020603050405020304" pitchFamily="18" charset="0"/>
            </a:endParaRPr>
          </a:p>
        </p:txBody>
      </p:sp>
      <p:sp>
        <p:nvSpPr>
          <p:cNvPr id="3" name="Text 1"/>
          <p:cNvSpPr/>
          <p:nvPr/>
        </p:nvSpPr>
        <p:spPr>
          <a:xfrm>
            <a:off x="685800" y="603504"/>
            <a:ext cx="10835640" cy="548640"/>
          </a:xfrm>
          <a:prstGeom prst="rect">
            <a:avLst/>
          </a:prstGeom>
          <a:noFill/>
          <a:ln/>
        </p:spPr>
        <p:txBody>
          <a:bodyPr wrap="square" lIns="0" tIns="0" rIns="0" bIns="0" rtlCol="0" anchor="ctr"/>
          <a:lstStyle/>
          <a:p>
            <a:pPr marL="0" indent="0">
              <a:buNone/>
            </a:pPr>
            <a:r>
              <a:rPr lang="en-US" sz="3400" b="1" dirty="0">
                <a:solidFill>
                  <a:srgbClr val="F7FAFF"/>
                </a:solidFill>
                <a:latin typeface="Times New Roman" panose="02020603050405020304" pitchFamily="18" charset="0"/>
                <a:ea typeface="Aptos Display" pitchFamily="34" charset="-122"/>
                <a:cs typeface="Times New Roman" panose="02020603050405020304" pitchFamily="18" charset="0"/>
              </a:rPr>
              <a:t>What gets refused: two failure paths</a:t>
            </a:r>
            <a:endParaRPr lang="en-US" sz="3400" dirty="0">
              <a:latin typeface="Times New Roman" panose="02020603050405020304" pitchFamily="18" charset="0"/>
              <a:cs typeface="Times New Roman" panose="02020603050405020304" pitchFamily="18" charset="0"/>
            </a:endParaRPr>
          </a:p>
        </p:txBody>
      </p:sp>
      <p:sp>
        <p:nvSpPr>
          <p:cNvPr id="4" name="Text 2"/>
          <p:cNvSpPr/>
          <p:nvPr/>
        </p:nvSpPr>
        <p:spPr>
          <a:xfrm>
            <a:off x="713232" y="1298448"/>
            <a:ext cx="6583680" cy="576072"/>
          </a:xfrm>
          <a:prstGeom prst="rect">
            <a:avLst/>
          </a:prstGeom>
          <a:noFill/>
          <a:ln/>
        </p:spPr>
        <p:txBody>
          <a:bodyPr wrap="square" lIns="0" tIns="0" rIns="0" bIns="0" rtlCol="0" anchor="ctr">
            <a:normAutofit/>
          </a:bodyPr>
          <a:lstStyle/>
          <a:p>
            <a:pPr marL="0" indent="0">
              <a:buNone/>
            </a:pPr>
            <a:r>
              <a:rPr lang="en-US" sz="1700" dirty="0">
                <a:solidFill>
                  <a:srgbClr val="AAB6CA"/>
                </a:solidFill>
                <a:latin typeface="Times New Roman" panose="02020603050405020304" pitchFamily="18" charset="0"/>
                <a:ea typeface="Aptos" pitchFamily="34" charset="-122"/>
                <a:cs typeface="Times New Roman" panose="02020603050405020304" pitchFamily="18" charset="0"/>
              </a:rPr>
              <a:t>The contract separates a broken request from a bad item. One stops the solve; the other is recorded and the rest of the order still packs.</a:t>
            </a:r>
            <a:endParaRPr lang="en-US" sz="1700" dirty="0">
              <a:latin typeface="Times New Roman" panose="02020603050405020304" pitchFamily="18" charset="0"/>
              <a:cs typeface="Times New Roman" panose="02020603050405020304" pitchFamily="18" charset="0"/>
            </a:endParaRPr>
          </a:p>
        </p:txBody>
      </p:sp>
      <p:sp>
        <p:nvSpPr>
          <p:cNvPr id="5" name="Text 3"/>
          <p:cNvSpPr/>
          <p:nvPr/>
        </p:nvSpPr>
        <p:spPr>
          <a:xfrm>
            <a:off x="2148840" y="2889504"/>
            <a:ext cx="320040" cy="320040"/>
          </a:xfrm>
          <a:prstGeom prst="rect">
            <a:avLst/>
          </a:prstGeom>
          <a:noFill/>
          <a:ln/>
        </p:spPr>
        <p:txBody>
          <a:bodyPr wrap="square" lIns="0" tIns="0" rIns="0" bIns="0" rtlCol="0" anchor="ctr"/>
          <a:lstStyle/>
          <a:p>
            <a:pPr marL="0" indent="0">
              <a:buNone/>
            </a:pPr>
            <a:r>
              <a:rPr lang="en-US" sz="2400" dirty="0">
                <a:solidFill>
                  <a:srgbClr val="7E8DAE"/>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4434840" y="2423160"/>
            <a:ext cx="320040" cy="320040"/>
          </a:xfrm>
          <a:prstGeom prst="rect">
            <a:avLst/>
          </a:prstGeom>
          <a:noFill/>
          <a:ln/>
        </p:spPr>
        <p:txBody>
          <a:bodyPr wrap="square" lIns="0" tIns="0" rIns="0" bIns="0" rtlCol="0" anchor="ctr"/>
          <a:lstStyle/>
          <a:p>
            <a:pPr marL="0" indent="0">
              <a:buNone/>
            </a:pPr>
            <a:r>
              <a:rPr lang="en-US" sz="2300" dirty="0">
                <a:solidFill>
                  <a:srgbClr val="FF6B6B"/>
                </a:solidFill>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
        <p:nvSpPr>
          <p:cNvPr id="7" name="Text 5"/>
          <p:cNvSpPr/>
          <p:nvPr/>
        </p:nvSpPr>
        <p:spPr>
          <a:xfrm>
            <a:off x="4434840" y="3172968"/>
            <a:ext cx="320040" cy="320040"/>
          </a:xfrm>
          <a:prstGeom prst="rect">
            <a:avLst/>
          </a:prstGeom>
          <a:noFill/>
          <a:ln/>
        </p:spPr>
        <p:txBody>
          <a:bodyPr wrap="square" lIns="0" tIns="0" rIns="0" bIns="0" rtlCol="0" anchor="ctr"/>
          <a:lstStyle/>
          <a:p>
            <a:pPr marL="0" indent="0">
              <a:buNone/>
            </a:pPr>
            <a:r>
              <a:rPr lang="en-US" sz="2300" dirty="0">
                <a:solidFill>
                  <a:srgbClr val="55D483"/>
                </a:solidFill>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
        <p:nvSpPr>
          <p:cNvPr id="8" name="Text 6"/>
          <p:cNvSpPr/>
          <p:nvPr/>
        </p:nvSpPr>
        <p:spPr>
          <a:xfrm>
            <a:off x="777240" y="2743200"/>
            <a:ext cx="1170432" cy="713232"/>
          </a:xfrm>
          <a:prstGeom prst="rect">
            <a:avLst/>
          </a:prstGeom>
          <a:solidFill>
            <a:srgbClr val="17223B"/>
          </a:solidFill>
          <a:ln w="12700">
            <a:solidFill>
              <a:srgbClr val="26314F"/>
            </a:solidFill>
          </a:ln>
        </p:spPr>
        <p:txBody>
          <a:bodyPr wrap="square" lIns="1016" tIns="1016" rIns="1016" bIns="1016" rtlCol="0" anchor="ctr">
            <a:normAutofit/>
          </a:bodyPr>
          <a:lstStyle/>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Request</a:t>
            </a:r>
            <a:endParaRPr lang="en-US" sz="1450" dirty="0">
              <a:latin typeface="Times New Roman" panose="02020603050405020304" pitchFamily="18" charset="0"/>
              <a:cs typeface="Times New Roman" panose="02020603050405020304" pitchFamily="18" charset="0"/>
            </a:endParaRPr>
          </a:p>
        </p:txBody>
      </p:sp>
      <p:sp>
        <p:nvSpPr>
          <p:cNvPr id="9" name="Text 7"/>
          <p:cNvSpPr/>
          <p:nvPr/>
        </p:nvSpPr>
        <p:spPr>
          <a:xfrm>
            <a:off x="2871216" y="2743200"/>
            <a:ext cx="1325880" cy="713232"/>
          </a:xfrm>
          <a:prstGeom prst="rect">
            <a:avLst/>
          </a:prstGeom>
          <a:solidFill>
            <a:srgbClr val="19364B"/>
          </a:solidFill>
          <a:ln w="12700">
            <a:solidFill>
              <a:srgbClr val="26314F"/>
            </a:solidFill>
          </a:ln>
        </p:spPr>
        <p:txBody>
          <a:bodyPr wrap="square" lIns="1016" tIns="1016" rIns="1016" bIns="1016" rtlCol="0" anchor="ctr">
            <a:normAutofit/>
          </a:bodyPr>
          <a:lstStyle/>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Validate</a:t>
            </a:r>
            <a:endParaRPr lang="en-US" sz="1450" dirty="0">
              <a:latin typeface="Times New Roman" panose="02020603050405020304" pitchFamily="18" charset="0"/>
              <a:cs typeface="Times New Roman" panose="02020603050405020304" pitchFamily="18" charset="0"/>
            </a:endParaRPr>
          </a:p>
        </p:txBody>
      </p:sp>
      <p:sp>
        <p:nvSpPr>
          <p:cNvPr id="10" name="Text 8"/>
          <p:cNvSpPr/>
          <p:nvPr/>
        </p:nvSpPr>
        <p:spPr>
          <a:xfrm>
            <a:off x="5193792" y="2084832"/>
            <a:ext cx="1627632" cy="786384"/>
          </a:xfrm>
          <a:prstGeom prst="rect">
            <a:avLst/>
          </a:prstGeom>
          <a:solidFill>
            <a:srgbClr val="3B1722"/>
          </a:solidFill>
          <a:ln w="12700">
            <a:solidFill>
              <a:srgbClr val="26314F"/>
            </a:solidFill>
          </a:ln>
        </p:spPr>
        <p:txBody>
          <a:bodyPr wrap="square" lIns="1016" tIns="1016" rIns="1016" bIns="1016" rtlCol="0" anchor="ctr">
            <a:normAutofit/>
          </a:bodyPr>
          <a:lstStyle/>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HTTP 422</a:t>
            </a:r>
            <a:endParaRPr lang="en-US" sz="1450" dirty="0">
              <a:latin typeface="Times New Roman" panose="02020603050405020304" pitchFamily="18" charset="0"/>
              <a:cs typeface="Times New Roman" panose="02020603050405020304" pitchFamily="18" charset="0"/>
            </a:endParaRPr>
          </a:p>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order refused</a:t>
            </a:r>
            <a:endParaRPr lang="en-US" sz="1450" dirty="0">
              <a:latin typeface="Times New Roman" panose="02020603050405020304" pitchFamily="18" charset="0"/>
              <a:cs typeface="Times New Roman" panose="02020603050405020304" pitchFamily="18" charset="0"/>
            </a:endParaRPr>
          </a:p>
        </p:txBody>
      </p:sp>
      <p:sp>
        <p:nvSpPr>
          <p:cNvPr id="11" name="Text 9"/>
          <p:cNvSpPr/>
          <p:nvPr/>
        </p:nvSpPr>
        <p:spPr>
          <a:xfrm>
            <a:off x="5193792" y="3529584"/>
            <a:ext cx="1737360" cy="786384"/>
          </a:xfrm>
          <a:prstGeom prst="rect">
            <a:avLst/>
          </a:prstGeom>
          <a:solidFill>
            <a:srgbClr val="14372F"/>
          </a:solidFill>
          <a:ln w="12700">
            <a:solidFill>
              <a:srgbClr val="26314F"/>
            </a:solidFill>
          </a:ln>
        </p:spPr>
        <p:txBody>
          <a:bodyPr wrap="square" lIns="1016" tIns="1016" rIns="1016" bIns="1016" rtlCol="0" anchor="ctr">
            <a:normAutofit/>
          </a:bodyPr>
          <a:lstStyle/>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HTTP 200</a:t>
            </a:r>
            <a:endParaRPr lang="en-US" sz="1450" dirty="0">
              <a:latin typeface="Times New Roman" panose="02020603050405020304" pitchFamily="18" charset="0"/>
              <a:cs typeface="Times New Roman" panose="02020603050405020304" pitchFamily="18" charset="0"/>
            </a:endParaRPr>
          </a:p>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pack what can fit</a:t>
            </a:r>
            <a:endParaRPr lang="en-US" sz="1450" dirty="0">
              <a:latin typeface="Times New Roman" panose="02020603050405020304" pitchFamily="18" charset="0"/>
              <a:cs typeface="Times New Roman" panose="02020603050405020304" pitchFamily="18" charset="0"/>
            </a:endParaRPr>
          </a:p>
        </p:txBody>
      </p:sp>
      <p:sp>
        <p:nvSpPr>
          <p:cNvPr id="12" name="Text 10"/>
          <p:cNvSpPr/>
          <p:nvPr/>
        </p:nvSpPr>
        <p:spPr>
          <a:xfrm>
            <a:off x="7882128" y="3529584"/>
            <a:ext cx="1920240" cy="786384"/>
          </a:xfrm>
          <a:prstGeom prst="rect">
            <a:avLst/>
          </a:prstGeom>
          <a:solidFill>
            <a:srgbClr val="17223B"/>
          </a:solidFill>
          <a:ln w="12700">
            <a:solidFill>
              <a:srgbClr val="26314F"/>
            </a:solidFill>
          </a:ln>
        </p:spPr>
        <p:txBody>
          <a:bodyPr wrap="square" lIns="1016" tIns="1016" rIns="1016" bIns="1016" rtlCol="0" anchor="ctr">
            <a:normAutofit/>
          </a:bodyPr>
          <a:lstStyle/>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Visualise placed</a:t>
            </a:r>
            <a:endParaRPr lang="en-US" sz="1450" dirty="0">
              <a:latin typeface="Times New Roman" panose="02020603050405020304" pitchFamily="18" charset="0"/>
              <a:cs typeface="Times New Roman" panose="02020603050405020304" pitchFamily="18" charset="0"/>
            </a:endParaRPr>
          </a:p>
          <a:p>
            <a:pPr marL="0" indent="0" algn="ctr">
              <a:buNone/>
            </a:pPr>
            <a:r>
              <a:rPr lang="en-US" sz="1450" b="1" dirty="0">
                <a:solidFill>
                  <a:srgbClr val="FFFFFF"/>
                </a:solidFill>
                <a:latin typeface="Times New Roman" panose="02020603050405020304" pitchFamily="18" charset="0"/>
                <a:ea typeface="Aptos" pitchFamily="34" charset="-122"/>
                <a:cs typeface="Times New Roman" panose="02020603050405020304" pitchFamily="18" charset="0"/>
              </a:rPr>
              <a:t>+ list rejects</a:t>
            </a:r>
            <a:endParaRPr lang="en-US" sz="1450" dirty="0">
              <a:latin typeface="Times New Roman" panose="02020603050405020304" pitchFamily="18" charset="0"/>
              <a:cs typeface="Times New Roman" panose="02020603050405020304" pitchFamily="18" charset="0"/>
            </a:endParaRPr>
          </a:p>
        </p:txBody>
      </p:sp>
      <p:sp>
        <p:nvSpPr>
          <p:cNvPr id="13" name="Text 11"/>
          <p:cNvSpPr/>
          <p:nvPr/>
        </p:nvSpPr>
        <p:spPr>
          <a:xfrm>
            <a:off x="7333488" y="3685032"/>
            <a:ext cx="320040" cy="320040"/>
          </a:xfrm>
          <a:prstGeom prst="rect">
            <a:avLst/>
          </a:prstGeom>
          <a:noFill/>
          <a:ln/>
        </p:spPr>
        <p:txBody>
          <a:bodyPr wrap="square" lIns="0" tIns="0" rIns="0" bIns="0" rtlCol="0" anchor="ctr"/>
          <a:lstStyle/>
          <a:p>
            <a:pPr marL="0" indent="0">
              <a:buNone/>
            </a:pPr>
            <a:r>
              <a:rPr lang="en-US" sz="2400" dirty="0">
                <a:solidFill>
                  <a:srgbClr val="7E8DAE"/>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786384" y="4480560"/>
            <a:ext cx="2468880" cy="274320"/>
          </a:xfrm>
          <a:prstGeom prst="rect">
            <a:avLst/>
          </a:prstGeom>
          <a:noFill/>
          <a:ln/>
        </p:spPr>
        <p:txBody>
          <a:bodyPr wrap="square" lIns="0" tIns="0" rIns="0" bIns="0" rtlCol="0" anchor="ctr"/>
          <a:lstStyle/>
          <a:p>
            <a:pPr marL="0" indent="0">
              <a:buNone/>
            </a:pPr>
            <a:r>
              <a:rPr lang="en-US" sz="1700" b="1" dirty="0">
                <a:solidFill>
                  <a:srgbClr val="FF6B6B"/>
                </a:solidFill>
                <a:latin typeface="Times New Roman" panose="02020603050405020304" pitchFamily="18" charset="0"/>
                <a:cs typeface="Times New Roman" panose="02020603050405020304" pitchFamily="18" charset="0"/>
              </a:rPr>
              <a:t>Order refused</a:t>
            </a:r>
            <a:endParaRPr lang="en-US" sz="1700" dirty="0">
              <a:latin typeface="Times New Roman" panose="02020603050405020304" pitchFamily="18" charset="0"/>
              <a:cs typeface="Times New Roman" panose="02020603050405020304" pitchFamily="18" charset="0"/>
            </a:endParaRPr>
          </a:p>
        </p:txBody>
      </p:sp>
      <p:sp>
        <p:nvSpPr>
          <p:cNvPr id="15" name="Text 13"/>
          <p:cNvSpPr/>
          <p:nvPr/>
        </p:nvSpPr>
        <p:spPr>
          <a:xfrm>
            <a:off x="786384" y="4846320"/>
            <a:ext cx="3246120" cy="713232"/>
          </a:xfrm>
          <a:prstGeom prst="rect">
            <a:avLst/>
          </a:prstGeom>
          <a:noFill/>
          <a:ln/>
        </p:spPr>
        <p:txBody>
          <a:bodyPr wrap="square" lIns="0" tIns="0" rIns="0" bIns="0" rtlCol="0" anchor="ctr">
            <a:normAutofit/>
          </a:bodyPr>
          <a:lstStyle/>
          <a:p>
            <a:pPr marL="0" indent="0">
              <a:buNone/>
            </a:pPr>
            <a:r>
              <a:rPr lang="en-US" sz="1350" dirty="0">
                <a:solidFill>
                  <a:srgbClr val="AAB6CA"/>
                </a:solidFill>
                <a:latin typeface="Times New Roman" panose="02020603050405020304" pitchFamily="18" charset="0"/>
                <a:cs typeface="Times New Roman" panose="02020603050405020304" pitchFamily="18" charset="0"/>
              </a:rPr>
              <a:t>No cartons · no items · invalid carton dimensions · time budget &lt; 1 ms</a:t>
            </a:r>
            <a:endParaRPr lang="en-US" sz="1350" dirty="0">
              <a:latin typeface="Times New Roman" panose="02020603050405020304" pitchFamily="18" charset="0"/>
              <a:cs typeface="Times New Roman" panose="02020603050405020304" pitchFamily="18" charset="0"/>
            </a:endParaRPr>
          </a:p>
        </p:txBody>
      </p:sp>
      <p:sp>
        <p:nvSpPr>
          <p:cNvPr id="16" name="Text 14"/>
          <p:cNvSpPr/>
          <p:nvPr/>
        </p:nvSpPr>
        <p:spPr>
          <a:xfrm>
            <a:off x="4443984" y="4480560"/>
            <a:ext cx="2468880" cy="274320"/>
          </a:xfrm>
          <a:prstGeom prst="rect">
            <a:avLst/>
          </a:prstGeom>
          <a:noFill/>
          <a:ln/>
        </p:spPr>
        <p:txBody>
          <a:bodyPr wrap="square" lIns="0" tIns="0" rIns="0" bIns="0" rtlCol="0" anchor="ctr"/>
          <a:lstStyle/>
          <a:p>
            <a:pPr marL="0" indent="0">
              <a:buNone/>
            </a:pPr>
            <a:r>
              <a:rPr lang="en-US" sz="1700" b="1" dirty="0">
                <a:solidFill>
                  <a:srgbClr val="FFCF5A"/>
                </a:solidFill>
                <a:latin typeface="Times New Roman" panose="02020603050405020304" pitchFamily="18" charset="0"/>
                <a:cs typeface="Times New Roman" panose="02020603050405020304" pitchFamily="18" charset="0"/>
              </a:rPr>
              <a:t>Item dropped</a:t>
            </a:r>
            <a:endParaRPr lang="en-US" sz="1700" dirty="0">
              <a:latin typeface="Times New Roman" panose="02020603050405020304" pitchFamily="18" charset="0"/>
              <a:cs typeface="Times New Roman" panose="02020603050405020304" pitchFamily="18" charset="0"/>
            </a:endParaRPr>
          </a:p>
        </p:txBody>
      </p:sp>
      <p:sp>
        <p:nvSpPr>
          <p:cNvPr id="17" name="Text 15"/>
          <p:cNvSpPr/>
          <p:nvPr/>
        </p:nvSpPr>
        <p:spPr>
          <a:xfrm>
            <a:off x="4443984" y="4846320"/>
            <a:ext cx="3337560" cy="640080"/>
          </a:xfrm>
          <a:prstGeom prst="rect">
            <a:avLst/>
          </a:prstGeom>
          <a:noFill/>
          <a:ln/>
        </p:spPr>
        <p:txBody>
          <a:bodyPr wrap="square" lIns="0" tIns="0" rIns="0" bIns="0" rtlCol="0" anchor="ctr">
            <a:normAutofit/>
          </a:bodyPr>
          <a:lstStyle/>
          <a:p>
            <a:pPr marL="0" indent="0">
              <a:buNone/>
            </a:pPr>
            <a:r>
              <a:rPr lang="en-US" sz="1350" dirty="0">
                <a:solidFill>
                  <a:srgbClr val="AAB6CA"/>
                </a:solidFill>
                <a:latin typeface="Times New Roman" panose="02020603050405020304" pitchFamily="18" charset="0"/>
                <a:cs typeface="Times New Roman" panose="02020603050405020304" pitchFamily="18" charset="0"/>
              </a:rPr>
              <a:t>INVALID_DIMENSIONS · MISSING_MASS · NO_FITTING_CARTON</a:t>
            </a:r>
            <a:endParaRPr lang="en-US" sz="1350" dirty="0">
              <a:latin typeface="Times New Roman" panose="02020603050405020304" pitchFamily="18" charset="0"/>
              <a:cs typeface="Times New Roman" panose="02020603050405020304" pitchFamily="18" charset="0"/>
            </a:endParaRPr>
          </a:p>
        </p:txBody>
      </p:sp>
      <p:sp>
        <p:nvSpPr>
          <p:cNvPr id="18" name="Text 16"/>
          <p:cNvSpPr/>
          <p:nvPr/>
        </p:nvSpPr>
        <p:spPr>
          <a:xfrm>
            <a:off x="8092440" y="4480560"/>
            <a:ext cx="2743200" cy="274320"/>
          </a:xfrm>
          <a:prstGeom prst="rect">
            <a:avLst/>
          </a:prstGeom>
          <a:noFill/>
          <a:ln/>
        </p:spPr>
        <p:txBody>
          <a:bodyPr wrap="square" lIns="0" tIns="0" rIns="0" bIns="0" rtlCol="0" anchor="ctr"/>
          <a:lstStyle/>
          <a:p>
            <a:pPr marL="0" indent="0">
              <a:buNone/>
            </a:pPr>
            <a:r>
              <a:rPr lang="en-US" sz="1700" b="1" dirty="0">
                <a:solidFill>
                  <a:srgbClr val="55D483"/>
                </a:solidFill>
                <a:latin typeface="Times New Roman" panose="02020603050405020304" pitchFamily="18" charset="0"/>
                <a:cs typeface="Times New Roman" panose="02020603050405020304" pitchFamily="18" charset="0"/>
              </a:rPr>
              <a:t>Everything else packs</a:t>
            </a:r>
            <a:endParaRPr lang="en-US" sz="1700" dirty="0">
              <a:latin typeface="Times New Roman" panose="02020603050405020304" pitchFamily="18" charset="0"/>
              <a:cs typeface="Times New Roman" panose="02020603050405020304" pitchFamily="18" charset="0"/>
            </a:endParaRPr>
          </a:p>
        </p:txBody>
      </p:sp>
      <p:sp>
        <p:nvSpPr>
          <p:cNvPr id="19" name="Text 17"/>
          <p:cNvSpPr/>
          <p:nvPr/>
        </p:nvSpPr>
        <p:spPr>
          <a:xfrm>
            <a:off x="8092440" y="4846320"/>
            <a:ext cx="3246120" cy="713232"/>
          </a:xfrm>
          <a:prstGeom prst="rect">
            <a:avLst/>
          </a:prstGeom>
          <a:noFill/>
          <a:ln/>
        </p:spPr>
        <p:txBody>
          <a:bodyPr wrap="square" lIns="0" tIns="0" rIns="0" bIns="0" rtlCol="0" anchor="ctr">
            <a:normAutofit/>
          </a:bodyPr>
          <a:lstStyle/>
          <a:p>
            <a:pPr marL="0" indent="0">
              <a:buNone/>
            </a:pPr>
            <a:r>
              <a:rPr lang="en-US" sz="1350" dirty="0">
                <a:solidFill>
                  <a:srgbClr val="AAB6CA"/>
                </a:solidFill>
                <a:latin typeface="Times New Roman" panose="02020603050405020304" pitchFamily="18" charset="0"/>
                <a:cs typeface="Times New Roman" panose="02020603050405020304" pitchFamily="18" charset="0"/>
              </a:rPr>
              <a:t>DG split · incompatible pairs separated · upright/fixed rotation preserved · deterministic layout</a:t>
            </a:r>
            <a:endParaRPr lang="en-US" sz="1350" dirty="0">
              <a:latin typeface="Times New Roman" panose="02020603050405020304" pitchFamily="18" charset="0"/>
              <a:cs typeface="Times New Roman" panose="02020603050405020304" pitchFamily="18" charset="0"/>
            </a:endParaRPr>
          </a:p>
        </p:txBody>
      </p:sp>
      <p:sp>
        <p:nvSpPr>
          <p:cNvPr id="20" name="Text 18"/>
          <p:cNvSpPr/>
          <p:nvPr/>
        </p:nvSpPr>
        <p:spPr>
          <a:xfrm>
            <a:off x="777240" y="5788152"/>
            <a:ext cx="10607040" cy="365760"/>
          </a:xfrm>
          <a:prstGeom prst="rect">
            <a:avLst/>
          </a:prstGeom>
          <a:noFill/>
          <a:ln/>
        </p:spPr>
        <p:txBody>
          <a:bodyPr wrap="square" lIns="0" tIns="0" rIns="0" bIns="0" rtlCol="0" anchor="ctr"/>
          <a:lstStyle/>
          <a:p>
            <a:pPr marL="0" indent="0" algn="ctr">
              <a:buNone/>
            </a:pPr>
            <a:r>
              <a:rPr lang="en-US" b="1" dirty="0">
                <a:solidFill>
                  <a:srgbClr val="F7FAFF"/>
                </a:solidFill>
                <a:latin typeface="Times New Roman" panose="02020603050405020304" pitchFamily="18" charset="0"/>
                <a:ea typeface="Aptos Display" pitchFamily="34" charset="-122"/>
                <a:cs typeface="Times New Roman" panose="02020603050405020304" pitchFamily="18" charset="0"/>
              </a:rPr>
              <a:t>Broken order = error. Broken item = reject entry.</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713232" y="6391656"/>
            <a:ext cx="8046720" cy="201168"/>
          </a:xfrm>
          <a:prstGeom prst="rect">
            <a:avLst/>
          </a:prstGeom>
          <a:noFill/>
          <a:ln/>
        </p:spPr>
        <p:txBody>
          <a:bodyPr wrap="square" lIns="0" tIns="0" rIns="0" bIns="0" rtlCol="0" anchor="ctr"/>
          <a:lstStyle/>
          <a:p>
            <a:pPr marL="0" indent="0">
              <a:buNone/>
            </a:pPr>
            <a:r>
              <a:rPr lang="en-US" sz="950" dirty="0">
                <a:solidFill>
                  <a:srgbClr val="7485A6"/>
                </a:solidFill>
                <a:latin typeface="Times New Roman" panose="02020603050405020304" pitchFamily="18" charset="0"/>
                <a:ea typeface="Aptos" pitchFamily="34" charset="-122"/>
                <a:cs typeface="Times New Roman" panose="02020603050405020304" pitchFamily="18" charset="0"/>
              </a:rPr>
              <a:t>This keeps the warehouse moving: partial success is a normal result, not a crash.</a:t>
            </a:r>
            <a:endParaRPr lang="en-US" sz="95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384280" y="619963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70809D"/>
                </a:solidFill>
                <a:latin typeface="Aptos"/>
                <a:ea typeface="Aptos"/>
                <a:cs typeface="Aptos"/>
              </a:defRPr>
            </a:lvl1pPr>
          </a:lstStyle>
          <a:p>
            <a:pPr algn="l"/>
            <a:fld id="{F7021451-1387-4CA6-816F-3879F97B5CBC}" type="slidenum">
              <a:rPr lang="en-US" b="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538</Words>
  <Application>Microsoft Office PowerPoint</Application>
  <PresentationFormat>Widescreen</PresentationFormat>
  <Paragraphs>75</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Cascadia Mono</vt:lpstr>
      <vt:lpstr>Times New Roman</vt:lpstr>
      <vt:lpstr>Office Theme</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Solver: Contract In &amp; Out</dc:title>
  <dc:subject>Dynamic Solver packing contract overview</dc:subject>
  <dc:creator>OpenAI</dc:creator>
  <cp:lastModifiedBy>Jess Patricks</cp:lastModifiedBy>
  <cp:revision>2</cp:revision>
  <dcterms:created xsi:type="dcterms:W3CDTF">2026-09-14T04:46:13Z</dcterms:created>
  <dcterms:modified xsi:type="dcterms:W3CDTF">2026-09-14T05:40:38Z</dcterms:modified>
</cp:coreProperties>
</file>